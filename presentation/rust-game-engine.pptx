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2"/>
  </p:notesMasterIdLst>
  <p:sldIdLst>
    <p:sldId id="256" r:id="rId2"/>
    <p:sldId id="259" r:id="rId3"/>
    <p:sldId id="260" r:id="rId4"/>
    <p:sldId id="261" r:id="rId5"/>
    <p:sldId id="262" r:id="rId6"/>
    <p:sldId id="263" r:id="rId7"/>
    <p:sldId id="264" r:id="rId8"/>
    <p:sldId id="265" r:id="rId9"/>
    <p:sldId id="266" r:id="rId10"/>
    <p:sldId id="267"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81207"/>
  </p:normalViewPr>
  <p:slideViewPr>
    <p:cSldViewPr snapToGrid="0">
      <p:cViewPr varScale="1">
        <p:scale>
          <a:sx n="102" d="100"/>
          <a:sy n="102" d="100"/>
        </p:scale>
        <p:origin x="95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6:50:17.192"/>
    </inkml:context>
    <inkml:brush xml:id="br0">
      <inkml:brushProperty name="width" value="0.035" units="cm"/>
      <inkml:brushProperty name="height" value="0.035" units="cm"/>
    </inkml:brush>
  </inkml:definitions>
  <inkml:trace contextRef="#ctx0" brushRef="#br0">0 0 24575,'0'0'0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6:50:17.552"/>
    </inkml:context>
    <inkml:brush xml:id="br0">
      <inkml:brushProperty name="width" value="0.035" units="cm"/>
      <inkml:brushProperty name="height" value="0.035" units="cm"/>
    </inkml:brush>
  </inkml:definitions>
  <inkml:trace contextRef="#ctx0" brushRef="#br0">9 1 24575,'-5'2'0,"1"0"0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6:50:18.035"/>
    </inkml:context>
    <inkml:brush xml:id="br0">
      <inkml:brushProperty name="width" value="0.035" units="cm"/>
      <inkml:brushProperty name="height" value="0.035" units="cm"/>
    </inkml:brush>
  </inkml:definitions>
  <inkml:trace contextRef="#ctx0" brushRef="#br0">1 1 24575,'0'0'0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6:50:18.202"/>
    </inkml:context>
    <inkml:brush xml:id="br0">
      <inkml:brushProperty name="width" value="0.035" units="cm"/>
      <inkml:brushProperty name="height" value="0.035" units="cm"/>
    </inkml:brush>
  </inkml:definitions>
  <inkml:trace contextRef="#ctx0" brushRef="#br0">1 1 24575,'0'0'0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6:50:27.153"/>
    </inkml:context>
    <inkml:brush xml:id="br0">
      <inkml:brushProperty name="width" value="0.035" units="cm"/>
      <inkml:brushProperty name="height" value="0.035" units="cm"/>
    </inkml:brush>
  </inkml:definitions>
  <inkml:trace contextRef="#ctx0" brushRef="#br0">1 0 24575,'2'0'0,"0"0"0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6:50:27.303"/>
    </inkml:context>
    <inkml:brush xml:id="br0">
      <inkml:brushProperty name="width" value="0.035" units="cm"/>
      <inkml:brushProperty name="height" value="0.035" units="cm"/>
    </inkml:brush>
  </inkml:definitions>
  <inkml:trace contextRef="#ctx0" brushRef="#br0">1 0 24575,'0'0'0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6:50:29.536"/>
    </inkml:context>
    <inkml:brush xml:id="br0">
      <inkml:brushProperty name="width" value="0.035" units="cm"/>
      <inkml:brushProperty name="height" value="0.035" units="cm"/>
    </inkml:brush>
  </inkml:definitions>
  <inkml:trace contextRef="#ctx0" brushRef="#br0">1 0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B8A27D-F7DB-DB4C-8954-E4495A043E5B}" type="datetimeFigureOut">
              <a:rPr lang="en-US" smtClean="0"/>
              <a:t>12/15/25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D2F0EB-7E9B-0746-95BD-9EA019A9846D}" type="slidenum">
              <a:rPr lang="en-US" smtClean="0"/>
              <a:t>‹#›</a:t>
            </a:fld>
            <a:endParaRPr lang="en-US"/>
          </a:p>
        </p:txBody>
      </p:sp>
    </p:spTree>
    <p:extLst>
      <p:ext uri="{BB962C8B-B14F-4D97-AF65-F5344CB8AC3E}">
        <p14:creationId xmlns:p14="http://schemas.microsoft.com/office/powerpoint/2010/main" val="863522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For this project, we built a deterministic, grid-based game engine in Rust using Bevy ECS. Our main motivation was not just to make a playable game, but to design an engine that is predictable, reproducible, and easy to debug. Turn-based games often suffer from hidden state changes and non-deterministic behavior, so we focused on building a system where the same inputs always lead to the same outcomes, which is especially important for testing and future extensibility.</a:t>
            </a:r>
            <a:endParaRPr lang="en-US" dirty="0"/>
          </a:p>
        </p:txBody>
      </p:sp>
      <p:sp>
        <p:nvSpPr>
          <p:cNvPr id="4" name="Slide Number Placeholder 3"/>
          <p:cNvSpPr>
            <a:spLocks noGrp="1"/>
          </p:cNvSpPr>
          <p:nvPr>
            <p:ph type="sldNum" sz="quarter" idx="5"/>
          </p:nvPr>
        </p:nvSpPr>
        <p:spPr/>
        <p:txBody>
          <a:bodyPr/>
          <a:lstStyle/>
          <a:p>
            <a:fld id="{39D2F0EB-7E9B-0746-95BD-9EA019A9846D}" type="slidenum">
              <a:rPr lang="en-US" smtClean="0"/>
              <a:t>2</a:t>
            </a:fld>
            <a:endParaRPr lang="en-US"/>
          </a:p>
        </p:txBody>
      </p:sp>
    </p:spTree>
    <p:extLst>
      <p:ext uri="{BB962C8B-B14F-4D97-AF65-F5344CB8AC3E}">
        <p14:creationId xmlns:p14="http://schemas.microsoft.com/office/powerpoint/2010/main" val="20175161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At a high level, the engine is composed of a grid system, an ECS-based object model, and a deterministic turn scheduler that drives all gameplay logic. Levels are defined in external JSON files, and the engine handles validation, spawning, and execution. This modular structure allows us to cleanly separate data, logic, and presentation, making the engine usable both as a standalone game and as a reusable framework.</a:t>
            </a:r>
            <a:endParaRPr lang="en-US" dirty="0"/>
          </a:p>
        </p:txBody>
      </p:sp>
      <p:sp>
        <p:nvSpPr>
          <p:cNvPr id="4" name="Slide Number Placeholder 3"/>
          <p:cNvSpPr>
            <a:spLocks noGrp="1"/>
          </p:cNvSpPr>
          <p:nvPr>
            <p:ph type="sldNum" sz="quarter" idx="5"/>
          </p:nvPr>
        </p:nvSpPr>
        <p:spPr/>
        <p:txBody>
          <a:bodyPr/>
          <a:lstStyle/>
          <a:p>
            <a:fld id="{39D2F0EB-7E9B-0746-95BD-9EA019A9846D}" type="slidenum">
              <a:rPr lang="en-US" smtClean="0"/>
              <a:t>3</a:t>
            </a:fld>
            <a:endParaRPr lang="en-US"/>
          </a:p>
        </p:txBody>
      </p:sp>
    </p:spTree>
    <p:extLst>
      <p:ext uri="{BB962C8B-B14F-4D97-AF65-F5344CB8AC3E}">
        <p14:creationId xmlns:p14="http://schemas.microsoft.com/office/powerpoint/2010/main" val="31413118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The grid system acts as the foundation of the engine. All gameplay happens in grid coordinates, which are then mapped to screen positions for rendering. We track tile occupancy to support collision detection and rule evaluation. Levels are loaded from JSON files, allowing designers to create or modify levels without changing any Rust code. The engine validates these files at load time and automatically spawns the correct entities.</a:t>
            </a:r>
            <a:endParaRPr lang="en-US" dirty="0"/>
          </a:p>
        </p:txBody>
      </p:sp>
      <p:sp>
        <p:nvSpPr>
          <p:cNvPr id="4" name="Slide Number Placeholder 3"/>
          <p:cNvSpPr>
            <a:spLocks noGrp="1"/>
          </p:cNvSpPr>
          <p:nvPr>
            <p:ph type="sldNum" sz="quarter" idx="5"/>
          </p:nvPr>
        </p:nvSpPr>
        <p:spPr/>
        <p:txBody>
          <a:bodyPr/>
          <a:lstStyle/>
          <a:p>
            <a:fld id="{39D2F0EB-7E9B-0746-95BD-9EA019A9846D}" type="slidenum">
              <a:rPr lang="en-US" smtClean="0"/>
              <a:t>4</a:t>
            </a:fld>
            <a:endParaRPr lang="en-US"/>
          </a:p>
        </p:txBody>
      </p:sp>
    </p:spTree>
    <p:extLst>
      <p:ext uri="{BB962C8B-B14F-4D97-AF65-F5344CB8AC3E}">
        <p14:creationId xmlns:p14="http://schemas.microsoft.com/office/powerpoint/2010/main" val="8000948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The core contribution of this project is the deterministic turn scheduler. Each turn follows a fixed pipeline: Input, AI Planning, Resolve, Commit, and Cleanup. During planning and resolution, systems are only allowed to read state and generate intents. All actual state mutations happen in a single, ordered commit phase. We also use a seeded random number generator for tie-breaking, which ensures that the entire turn system behaves deterministically.</a:t>
            </a:r>
            <a:endParaRPr lang="en-US" dirty="0"/>
          </a:p>
        </p:txBody>
      </p:sp>
      <p:sp>
        <p:nvSpPr>
          <p:cNvPr id="4" name="Slide Number Placeholder 3"/>
          <p:cNvSpPr>
            <a:spLocks noGrp="1"/>
          </p:cNvSpPr>
          <p:nvPr>
            <p:ph type="sldNum" sz="quarter" idx="5"/>
          </p:nvPr>
        </p:nvSpPr>
        <p:spPr/>
        <p:txBody>
          <a:bodyPr/>
          <a:lstStyle/>
          <a:p>
            <a:fld id="{39D2F0EB-7E9B-0746-95BD-9EA019A9846D}" type="slidenum">
              <a:rPr lang="en-US" smtClean="0"/>
              <a:t>5</a:t>
            </a:fld>
            <a:endParaRPr lang="en-US"/>
          </a:p>
        </p:txBody>
      </p:sp>
    </p:spTree>
    <p:extLst>
      <p:ext uri="{BB962C8B-B14F-4D97-AF65-F5344CB8AC3E}">
        <p14:creationId xmlns:p14="http://schemas.microsoft.com/office/powerpoint/2010/main" val="18595916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All game objects are built using an Entity-Component-System approach. Instead of using inheritance, objects are composed from small, reusable components like Position, Actor, Blocking, Goal, and AI. This makes it easy to define new object types without modifying existing code. Systems operate on these components during specific turn phases, which helps keep logic isolated and predictable.</a:t>
            </a:r>
            <a:endParaRPr lang="en-US" dirty="0"/>
          </a:p>
        </p:txBody>
      </p:sp>
      <p:sp>
        <p:nvSpPr>
          <p:cNvPr id="4" name="Slide Number Placeholder 3"/>
          <p:cNvSpPr>
            <a:spLocks noGrp="1"/>
          </p:cNvSpPr>
          <p:nvPr>
            <p:ph type="sldNum" sz="quarter" idx="5"/>
          </p:nvPr>
        </p:nvSpPr>
        <p:spPr/>
        <p:txBody>
          <a:bodyPr/>
          <a:lstStyle/>
          <a:p>
            <a:fld id="{39D2F0EB-7E9B-0746-95BD-9EA019A9846D}" type="slidenum">
              <a:rPr lang="en-US" smtClean="0"/>
              <a:t>6</a:t>
            </a:fld>
            <a:endParaRPr lang="en-US"/>
          </a:p>
        </p:txBody>
      </p:sp>
    </p:spTree>
    <p:extLst>
      <p:ext uri="{BB962C8B-B14F-4D97-AF65-F5344CB8AC3E}">
        <p14:creationId xmlns:p14="http://schemas.microsoft.com/office/powerpoint/2010/main" val="9578865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For enemy movement, we implemented a deterministic A* pathfinding algorithm on the grid. It uses Manhattan distance as the heuristic and enforces fixed neighbor ordering to avoid non-deterministic behavior. Movement rules and </a:t>
            </a:r>
            <a:r>
              <a:rPr lang="en-CA" dirty="0" err="1"/>
              <a:t>passability</a:t>
            </a:r>
            <a:r>
              <a:rPr lang="en-CA" dirty="0"/>
              <a:t> are defined through a pluggable policy interface, which allows different entity behaviors without changing the core algorithm. This design integrates smoothly with the turn scheduler and ensures reproducible AI behavior.</a:t>
            </a:r>
            <a:endParaRPr lang="en-US" dirty="0"/>
          </a:p>
        </p:txBody>
      </p:sp>
      <p:sp>
        <p:nvSpPr>
          <p:cNvPr id="4" name="Slide Number Placeholder 3"/>
          <p:cNvSpPr>
            <a:spLocks noGrp="1"/>
          </p:cNvSpPr>
          <p:nvPr>
            <p:ph type="sldNum" sz="quarter" idx="5"/>
          </p:nvPr>
        </p:nvSpPr>
        <p:spPr/>
        <p:txBody>
          <a:bodyPr/>
          <a:lstStyle/>
          <a:p>
            <a:fld id="{39D2F0EB-7E9B-0746-95BD-9EA019A9846D}" type="slidenum">
              <a:rPr lang="en-US" smtClean="0"/>
              <a:t>7</a:t>
            </a:fld>
            <a:endParaRPr lang="en-US"/>
          </a:p>
        </p:txBody>
      </p:sp>
    </p:spTree>
    <p:extLst>
      <p:ext uri="{BB962C8B-B14F-4D97-AF65-F5344CB8AC3E}">
        <p14:creationId xmlns:p14="http://schemas.microsoft.com/office/powerpoint/2010/main" val="36293122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To support debugging and validation, we added a replay system that records the initial RNG seed and the sequence of player inputs. When replayed, the engine reconstructs the exact same sequence of states. This allowed us to create golden tests where the same seed and inputs always produce identical outcomes. It proved extremely useful for debugging subtle ordering and logic bugs in the turn pipeline.</a:t>
            </a:r>
            <a:endParaRPr lang="en-US" dirty="0"/>
          </a:p>
        </p:txBody>
      </p:sp>
      <p:sp>
        <p:nvSpPr>
          <p:cNvPr id="4" name="Slide Number Placeholder 3"/>
          <p:cNvSpPr>
            <a:spLocks noGrp="1"/>
          </p:cNvSpPr>
          <p:nvPr>
            <p:ph type="sldNum" sz="quarter" idx="5"/>
          </p:nvPr>
        </p:nvSpPr>
        <p:spPr/>
        <p:txBody>
          <a:bodyPr/>
          <a:lstStyle/>
          <a:p>
            <a:fld id="{39D2F0EB-7E9B-0746-95BD-9EA019A9846D}" type="slidenum">
              <a:rPr lang="en-US" smtClean="0"/>
              <a:t>8</a:t>
            </a:fld>
            <a:endParaRPr lang="en-US"/>
          </a:p>
        </p:txBody>
      </p:sp>
    </p:spTree>
    <p:extLst>
      <p:ext uri="{BB962C8B-B14F-4D97-AF65-F5344CB8AC3E}">
        <p14:creationId xmlns:p14="http://schemas.microsoft.com/office/powerpoint/2010/main" val="1358537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One major lesson was how much easier debugging becomes when the game loop is fully deterministic. Clear phase boundaries and explicit ordering eliminated many classes of bugs. Another key takeaway was Rust’s ownership and borrowing system, which caught many errors at compile time that would normally appear at runtime. Together, determinism and Rust’s type system resulted in a much more robust and maintainable codebase.</a:t>
            </a:r>
            <a:endParaRPr lang="en-US" dirty="0"/>
          </a:p>
        </p:txBody>
      </p:sp>
      <p:sp>
        <p:nvSpPr>
          <p:cNvPr id="4" name="Slide Number Placeholder 3"/>
          <p:cNvSpPr>
            <a:spLocks noGrp="1"/>
          </p:cNvSpPr>
          <p:nvPr>
            <p:ph type="sldNum" sz="quarter" idx="5"/>
          </p:nvPr>
        </p:nvSpPr>
        <p:spPr/>
        <p:txBody>
          <a:bodyPr/>
          <a:lstStyle/>
          <a:p>
            <a:fld id="{39D2F0EB-7E9B-0746-95BD-9EA019A9846D}" type="slidenum">
              <a:rPr lang="en-US" smtClean="0"/>
              <a:t>9</a:t>
            </a:fld>
            <a:endParaRPr lang="en-US"/>
          </a:p>
        </p:txBody>
      </p:sp>
    </p:spTree>
    <p:extLst>
      <p:ext uri="{BB962C8B-B14F-4D97-AF65-F5344CB8AC3E}">
        <p14:creationId xmlns:p14="http://schemas.microsoft.com/office/powerpoint/2010/main" val="34829691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While the core engine is complete, several gameplay mechanics such as traps, doors, keys, and more complex interactions are planned for future work. These features were intentionally deferred to demonstrate that the engine is extensible without requiring architectural changes. The deterministic pipeline and ECS design allow these mechanics to be layered on cleanly in future iterations.</a:t>
            </a:r>
            <a:endParaRPr lang="en-US" dirty="0"/>
          </a:p>
        </p:txBody>
      </p:sp>
      <p:sp>
        <p:nvSpPr>
          <p:cNvPr id="4" name="Slide Number Placeholder 3"/>
          <p:cNvSpPr>
            <a:spLocks noGrp="1"/>
          </p:cNvSpPr>
          <p:nvPr>
            <p:ph type="sldNum" sz="quarter" idx="5"/>
          </p:nvPr>
        </p:nvSpPr>
        <p:spPr/>
        <p:txBody>
          <a:bodyPr/>
          <a:lstStyle/>
          <a:p>
            <a:fld id="{39D2F0EB-7E9B-0746-95BD-9EA019A9846D}" type="slidenum">
              <a:rPr lang="en-US" smtClean="0"/>
              <a:t>10</a:t>
            </a:fld>
            <a:endParaRPr lang="en-US"/>
          </a:p>
        </p:txBody>
      </p:sp>
    </p:spTree>
    <p:extLst>
      <p:ext uri="{BB962C8B-B14F-4D97-AF65-F5344CB8AC3E}">
        <p14:creationId xmlns:p14="http://schemas.microsoft.com/office/powerpoint/2010/main" val="22832785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12/15/25</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12/15/25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12/15/25</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12/15/25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12/15/25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12/15/25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12/15/25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12/15/25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12/15/25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12/15/25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12/15/25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12/15/25</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customXml" Target="../ink/ink5.xml"/><Relationship Id="rId3" Type="http://schemas.openxmlformats.org/officeDocument/2006/relationships/image" Target="../media/image1.png"/><Relationship Id="rId7" Type="http://schemas.openxmlformats.org/officeDocument/2006/relationships/customXml" Target="../ink/ink4.xml"/><Relationship Id="rId2" Type="http://schemas.openxmlformats.org/officeDocument/2006/relationships/customXml" Target="../ink/ink1.xml"/><Relationship Id="rId1" Type="http://schemas.openxmlformats.org/officeDocument/2006/relationships/slideLayout" Target="../slideLayouts/slideLayout1.xml"/><Relationship Id="rId6" Type="http://schemas.openxmlformats.org/officeDocument/2006/relationships/customXml" Target="../ink/ink3.xml"/><Relationship Id="rId5" Type="http://schemas.openxmlformats.org/officeDocument/2006/relationships/image" Target="../media/image2.png"/><Relationship Id="rId10" Type="http://schemas.openxmlformats.org/officeDocument/2006/relationships/customXml" Target="../ink/ink7.xml"/><Relationship Id="rId4" Type="http://schemas.openxmlformats.org/officeDocument/2006/relationships/customXml" Target="../ink/ink2.xml"/><Relationship Id="rId9" Type="http://schemas.openxmlformats.org/officeDocument/2006/relationships/customXml" Target="../ink/ink6.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2D117-1CCA-DF6E-F238-32B3C5E57499}"/>
              </a:ext>
            </a:extLst>
          </p:cNvPr>
          <p:cNvSpPr>
            <a:spLocks noGrp="1"/>
          </p:cNvSpPr>
          <p:nvPr>
            <p:ph type="ctrTitle"/>
          </p:nvPr>
        </p:nvSpPr>
        <p:spPr>
          <a:xfrm>
            <a:off x="1915128" y="1860698"/>
            <a:ext cx="8132639" cy="2025982"/>
          </a:xfrm>
        </p:spPr>
        <p:txBody>
          <a:bodyPr/>
          <a:lstStyle/>
          <a:p>
            <a:r>
              <a:rPr lang="en-CA" sz="4400" dirty="0"/>
              <a:t>A Deterministic Grid-Based Game Engine in Rust</a:t>
            </a:r>
            <a:endParaRPr lang="en-US" sz="4400" dirty="0"/>
          </a:p>
        </p:txBody>
      </p:sp>
      <p:sp>
        <p:nvSpPr>
          <p:cNvPr id="3" name="Subtitle 2">
            <a:extLst>
              <a:ext uri="{FF2B5EF4-FFF2-40B4-BE49-F238E27FC236}">
                <a16:creationId xmlns:a16="http://schemas.microsoft.com/office/drawing/2014/main" id="{A842E9FC-EBDF-CC08-29C5-0CA6F4B76352}"/>
              </a:ext>
            </a:extLst>
          </p:cNvPr>
          <p:cNvSpPr>
            <a:spLocks noGrp="1"/>
          </p:cNvSpPr>
          <p:nvPr>
            <p:ph type="subTitle" idx="1"/>
          </p:nvPr>
        </p:nvSpPr>
        <p:spPr/>
        <p:txBody>
          <a:bodyPr/>
          <a:lstStyle/>
          <a:p>
            <a:r>
              <a:rPr lang="en-US" dirty="0"/>
              <a:t>Yijun Chen - 1003045518</a:t>
            </a:r>
          </a:p>
          <a:p>
            <a:r>
              <a:rPr lang="en-US" dirty="0"/>
              <a:t>Bart Cui - 1011827908</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AD6947C8-C5DA-6C07-A9DE-072E3D4DDD67}"/>
                  </a:ext>
                </a:extLst>
              </p14:cNvPr>
              <p14:cNvContentPartPr/>
              <p14:nvPr/>
            </p14:nvContentPartPr>
            <p14:xfrm>
              <a:off x="7037163" y="4323668"/>
              <a:ext cx="360" cy="360"/>
            </p14:xfrm>
          </p:contentPart>
        </mc:Choice>
        <mc:Fallback>
          <p:pic>
            <p:nvPicPr>
              <p:cNvPr id="4" name="Ink 3">
                <a:extLst>
                  <a:ext uri="{FF2B5EF4-FFF2-40B4-BE49-F238E27FC236}">
                    <a16:creationId xmlns:a16="http://schemas.microsoft.com/office/drawing/2014/main" id="{AD6947C8-C5DA-6C07-A9DE-072E3D4DDD67}"/>
                  </a:ext>
                </a:extLst>
              </p:cNvPr>
              <p:cNvPicPr/>
              <p:nvPr/>
            </p:nvPicPr>
            <p:blipFill>
              <a:blip r:embed="rId3"/>
              <a:stretch>
                <a:fillRect/>
              </a:stretch>
            </p:blipFill>
            <p:spPr>
              <a:xfrm>
                <a:off x="7031043" y="4317548"/>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D28FBF62-36D8-3845-2890-E441FFAEDCAB}"/>
                  </a:ext>
                </a:extLst>
              </p14:cNvPr>
              <p14:cNvContentPartPr/>
              <p14:nvPr/>
            </p14:nvContentPartPr>
            <p14:xfrm>
              <a:off x="6401763" y="4606268"/>
              <a:ext cx="3600" cy="2160"/>
            </p14:xfrm>
          </p:contentPart>
        </mc:Choice>
        <mc:Fallback>
          <p:pic>
            <p:nvPicPr>
              <p:cNvPr id="5" name="Ink 4">
                <a:extLst>
                  <a:ext uri="{FF2B5EF4-FFF2-40B4-BE49-F238E27FC236}">
                    <a16:creationId xmlns:a16="http://schemas.microsoft.com/office/drawing/2014/main" id="{D28FBF62-36D8-3845-2890-E441FFAEDCAB}"/>
                  </a:ext>
                </a:extLst>
              </p:cNvPr>
              <p:cNvPicPr/>
              <p:nvPr/>
            </p:nvPicPr>
            <p:blipFill>
              <a:blip r:embed="rId5"/>
              <a:stretch>
                <a:fillRect/>
              </a:stretch>
            </p:blipFill>
            <p:spPr>
              <a:xfrm>
                <a:off x="6395643" y="4600148"/>
                <a:ext cx="15840" cy="144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49B8CB37-0986-EB7F-28B6-C2188F2973DF}"/>
                  </a:ext>
                </a:extLst>
              </p14:cNvPr>
              <p14:cNvContentPartPr/>
              <p14:nvPr/>
            </p14:nvContentPartPr>
            <p14:xfrm>
              <a:off x="6199443" y="4294148"/>
              <a:ext cx="360" cy="360"/>
            </p14:xfrm>
          </p:contentPart>
        </mc:Choice>
        <mc:Fallback>
          <p:pic>
            <p:nvPicPr>
              <p:cNvPr id="6" name="Ink 5">
                <a:extLst>
                  <a:ext uri="{FF2B5EF4-FFF2-40B4-BE49-F238E27FC236}">
                    <a16:creationId xmlns:a16="http://schemas.microsoft.com/office/drawing/2014/main" id="{49B8CB37-0986-EB7F-28B6-C2188F2973DF}"/>
                  </a:ext>
                </a:extLst>
              </p:cNvPr>
              <p:cNvPicPr/>
              <p:nvPr/>
            </p:nvPicPr>
            <p:blipFill>
              <a:blip r:embed="rId3"/>
              <a:stretch>
                <a:fillRect/>
              </a:stretch>
            </p:blipFill>
            <p:spPr>
              <a:xfrm>
                <a:off x="6193323" y="4288028"/>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7" name="Ink 6">
                <a:extLst>
                  <a:ext uri="{FF2B5EF4-FFF2-40B4-BE49-F238E27FC236}">
                    <a16:creationId xmlns:a16="http://schemas.microsoft.com/office/drawing/2014/main" id="{BC8E860C-FD65-DBA3-6C38-95EAF4CEB0A5}"/>
                  </a:ext>
                </a:extLst>
              </p14:cNvPr>
              <p14:cNvContentPartPr/>
              <p14:nvPr/>
            </p14:nvContentPartPr>
            <p14:xfrm>
              <a:off x="6199443" y="4294148"/>
              <a:ext cx="360" cy="360"/>
            </p14:xfrm>
          </p:contentPart>
        </mc:Choice>
        <mc:Fallback>
          <p:pic>
            <p:nvPicPr>
              <p:cNvPr id="7" name="Ink 6">
                <a:extLst>
                  <a:ext uri="{FF2B5EF4-FFF2-40B4-BE49-F238E27FC236}">
                    <a16:creationId xmlns:a16="http://schemas.microsoft.com/office/drawing/2014/main" id="{BC8E860C-FD65-DBA3-6C38-95EAF4CEB0A5}"/>
                  </a:ext>
                </a:extLst>
              </p:cNvPr>
              <p:cNvPicPr/>
              <p:nvPr/>
            </p:nvPicPr>
            <p:blipFill>
              <a:blip r:embed="rId3"/>
              <a:stretch>
                <a:fillRect/>
              </a:stretch>
            </p:blipFill>
            <p:spPr>
              <a:xfrm>
                <a:off x="6193323" y="4288028"/>
                <a:ext cx="12600" cy="12600"/>
              </a:xfrm>
              <a:prstGeom prst="rect">
                <a:avLst/>
              </a:prstGeom>
            </p:spPr>
          </p:pic>
        </mc:Fallback>
      </mc:AlternateContent>
      <p:grpSp>
        <p:nvGrpSpPr>
          <p:cNvPr id="17" name="Group 16">
            <a:extLst>
              <a:ext uri="{FF2B5EF4-FFF2-40B4-BE49-F238E27FC236}">
                <a16:creationId xmlns:a16="http://schemas.microsoft.com/office/drawing/2014/main" id="{D8121168-F22A-2F01-52D8-E4D35A773D9B}"/>
              </a:ext>
            </a:extLst>
          </p:cNvPr>
          <p:cNvGrpSpPr/>
          <p:nvPr/>
        </p:nvGrpSpPr>
        <p:grpSpPr>
          <a:xfrm>
            <a:off x="6370270" y="4250632"/>
            <a:ext cx="1800" cy="360"/>
            <a:chOff x="6370270" y="4250632"/>
            <a:chExt cx="1800" cy="360"/>
          </a:xfrm>
        </p:grpSpPr>
        <mc:AlternateContent xmlns:mc="http://schemas.openxmlformats.org/markup-compatibility/2006">
          <mc:Choice xmlns:p14="http://schemas.microsoft.com/office/powerpoint/2010/main" Requires="p14">
            <p:contentPart p14:bwMode="auto" r:id="rId8">
              <p14:nvContentPartPr>
                <p14:cNvPr id="14" name="Ink 13">
                  <a:extLst>
                    <a:ext uri="{FF2B5EF4-FFF2-40B4-BE49-F238E27FC236}">
                      <a16:creationId xmlns:a16="http://schemas.microsoft.com/office/drawing/2014/main" id="{F5425BF4-62D1-19DF-C7CE-C9319F59EA9B}"/>
                    </a:ext>
                  </a:extLst>
                </p14:cNvPr>
                <p14:cNvContentPartPr/>
                <p14:nvPr/>
              </p14:nvContentPartPr>
              <p14:xfrm>
                <a:off x="6370270" y="4250632"/>
                <a:ext cx="1800" cy="360"/>
              </p14:xfrm>
            </p:contentPart>
          </mc:Choice>
          <mc:Fallback>
            <p:pic>
              <p:nvPicPr>
                <p:cNvPr id="14" name="Ink 13">
                  <a:extLst>
                    <a:ext uri="{FF2B5EF4-FFF2-40B4-BE49-F238E27FC236}">
                      <a16:creationId xmlns:a16="http://schemas.microsoft.com/office/drawing/2014/main" id="{F5425BF4-62D1-19DF-C7CE-C9319F59EA9B}"/>
                    </a:ext>
                  </a:extLst>
                </p:cNvPr>
                <p:cNvPicPr/>
                <p:nvPr/>
              </p:nvPicPr>
              <p:blipFill>
                <a:blip r:embed="rId3"/>
                <a:stretch>
                  <a:fillRect/>
                </a:stretch>
              </p:blipFill>
              <p:spPr>
                <a:xfrm>
                  <a:off x="6364150" y="4244512"/>
                  <a:ext cx="1404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5" name="Ink 14">
                  <a:extLst>
                    <a:ext uri="{FF2B5EF4-FFF2-40B4-BE49-F238E27FC236}">
                      <a16:creationId xmlns:a16="http://schemas.microsoft.com/office/drawing/2014/main" id="{64AA2BBB-3F5D-A600-5F8A-132E911D04A0}"/>
                    </a:ext>
                  </a:extLst>
                </p14:cNvPr>
                <p14:cNvContentPartPr/>
                <p14:nvPr/>
              </p14:nvContentPartPr>
              <p14:xfrm>
                <a:off x="6371710" y="4250632"/>
                <a:ext cx="360" cy="360"/>
              </p14:xfrm>
            </p:contentPart>
          </mc:Choice>
          <mc:Fallback>
            <p:pic>
              <p:nvPicPr>
                <p:cNvPr id="15" name="Ink 14">
                  <a:extLst>
                    <a:ext uri="{FF2B5EF4-FFF2-40B4-BE49-F238E27FC236}">
                      <a16:creationId xmlns:a16="http://schemas.microsoft.com/office/drawing/2014/main" id="{64AA2BBB-3F5D-A600-5F8A-132E911D04A0}"/>
                    </a:ext>
                  </a:extLst>
                </p:cNvPr>
                <p:cNvPicPr/>
                <p:nvPr/>
              </p:nvPicPr>
              <p:blipFill>
                <a:blip r:embed="rId3"/>
                <a:stretch>
                  <a:fillRect/>
                </a:stretch>
              </p:blipFill>
              <p:spPr>
                <a:xfrm>
                  <a:off x="6365590" y="4244512"/>
                  <a:ext cx="12600" cy="126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0">
            <p14:nvContentPartPr>
              <p14:cNvPr id="18" name="Ink 17">
                <a:extLst>
                  <a:ext uri="{FF2B5EF4-FFF2-40B4-BE49-F238E27FC236}">
                    <a16:creationId xmlns:a16="http://schemas.microsoft.com/office/drawing/2014/main" id="{E408D48F-8FD0-16C9-221B-E028D1E99FBB}"/>
                  </a:ext>
                </a:extLst>
              </p14:cNvPr>
              <p14:cNvContentPartPr/>
              <p14:nvPr/>
            </p14:nvContentPartPr>
            <p14:xfrm>
              <a:off x="6912430" y="4299592"/>
              <a:ext cx="360" cy="360"/>
            </p14:xfrm>
          </p:contentPart>
        </mc:Choice>
        <mc:Fallback>
          <p:pic>
            <p:nvPicPr>
              <p:cNvPr id="18" name="Ink 17">
                <a:extLst>
                  <a:ext uri="{FF2B5EF4-FFF2-40B4-BE49-F238E27FC236}">
                    <a16:creationId xmlns:a16="http://schemas.microsoft.com/office/drawing/2014/main" id="{E408D48F-8FD0-16C9-221B-E028D1E99FBB}"/>
                  </a:ext>
                </a:extLst>
              </p:cNvPr>
              <p:cNvPicPr/>
              <p:nvPr/>
            </p:nvPicPr>
            <p:blipFill>
              <a:blip r:embed="rId3"/>
              <a:stretch>
                <a:fillRect/>
              </a:stretch>
            </p:blipFill>
            <p:spPr>
              <a:xfrm>
                <a:off x="6906310" y="4293472"/>
                <a:ext cx="12600" cy="12600"/>
              </a:xfrm>
              <a:prstGeom prst="rect">
                <a:avLst/>
              </a:prstGeom>
            </p:spPr>
          </p:pic>
        </mc:Fallback>
      </mc:AlternateContent>
    </p:spTree>
    <p:extLst>
      <p:ext uri="{BB962C8B-B14F-4D97-AF65-F5344CB8AC3E}">
        <p14:creationId xmlns:p14="http://schemas.microsoft.com/office/powerpoint/2010/main" val="27775475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B3E00-E290-62FE-3A7B-C332170F4A28}"/>
              </a:ext>
            </a:extLst>
          </p:cNvPr>
          <p:cNvSpPr>
            <a:spLocks noGrp="1"/>
          </p:cNvSpPr>
          <p:nvPr>
            <p:ph type="title"/>
          </p:nvPr>
        </p:nvSpPr>
        <p:spPr/>
        <p:txBody>
          <a:bodyPr/>
          <a:lstStyle/>
          <a:p>
            <a:r>
              <a:rPr lang="en-CA" dirty="0"/>
              <a:t>Motivation</a:t>
            </a:r>
            <a:endParaRPr lang="en-US" dirty="0"/>
          </a:p>
        </p:txBody>
      </p:sp>
      <p:sp>
        <p:nvSpPr>
          <p:cNvPr id="3" name="Content Placeholder 2">
            <a:extLst>
              <a:ext uri="{FF2B5EF4-FFF2-40B4-BE49-F238E27FC236}">
                <a16:creationId xmlns:a16="http://schemas.microsoft.com/office/drawing/2014/main" id="{0D6B330D-01DD-0D7E-D182-5B2416172D46}"/>
              </a:ext>
            </a:extLst>
          </p:cNvPr>
          <p:cNvSpPr>
            <a:spLocks noGrp="1"/>
          </p:cNvSpPr>
          <p:nvPr>
            <p:ph idx="1"/>
          </p:nvPr>
        </p:nvSpPr>
        <p:spPr>
          <a:xfrm>
            <a:off x="1371600" y="1765005"/>
            <a:ext cx="9601200" cy="3581400"/>
          </a:xfrm>
        </p:spPr>
        <p:txBody>
          <a:bodyPr/>
          <a:lstStyle/>
          <a:p>
            <a:r>
              <a:rPr lang="en-CA" dirty="0"/>
              <a:t>Turn-based puzzle/chasing engine</a:t>
            </a:r>
          </a:p>
          <a:p>
            <a:r>
              <a:rPr lang="en-CA" dirty="0"/>
              <a:t>Built with </a:t>
            </a:r>
            <a:r>
              <a:rPr lang="en-CA" b="1" dirty="0"/>
              <a:t>Rust + Bevy ECS</a:t>
            </a:r>
            <a:endParaRPr lang="en-CA" dirty="0"/>
          </a:p>
          <a:p>
            <a:r>
              <a:rPr lang="en-CA" dirty="0"/>
              <a:t>Focus on </a:t>
            </a:r>
            <a:r>
              <a:rPr lang="en-CA" b="1" dirty="0"/>
              <a:t>determinism, reproducibility, and debuggability</a:t>
            </a:r>
            <a:endParaRPr lang="en-CA" dirty="0"/>
          </a:p>
          <a:p>
            <a:r>
              <a:rPr lang="en-CA" dirty="0"/>
              <a:t>Designed as a reusable engine / crate</a:t>
            </a:r>
          </a:p>
        </p:txBody>
      </p:sp>
      <p:pic>
        <p:nvPicPr>
          <p:cNvPr id="1026" name="Picture 2" descr="Deterministic finite automaton - Wikipedia">
            <a:extLst>
              <a:ext uri="{FF2B5EF4-FFF2-40B4-BE49-F238E27FC236}">
                <a16:creationId xmlns:a16="http://schemas.microsoft.com/office/drawing/2014/main" id="{9228AFE0-FFAA-7119-0297-28100945DA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7333" y="3948395"/>
            <a:ext cx="4292600" cy="1892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64060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CB65B-1705-212F-00B4-95F7896E911D}"/>
              </a:ext>
            </a:extLst>
          </p:cNvPr>
          <p:cNvSpPr>
            <a:spLocks noGrp="1"/>
          </p:cNvSpPr>
          <p:nvPr>
            <p:ph type="title"/>
          </p:nvPr>
        </p:nvSpPr>
        <p:spPr/>
        <p:txBody>
          <a:bodyPr/>
          <a:lstStyle/>
          <a:p>
            <a:r>
              <a:rPr lang="en-CA" dirty="0"/>
              <a:t>System Overview</a:t>
            </a:r>
            <a:endParaRPr lang="en-US" dirty="0"/>
          </a:p>
        </p:txBody>
      </p:sp>
      <p:sp>
        <p:nvSpPr>
          <p:cNvPr id="3" name="Content Placeholder 2">
            <a:extLst>
              <a:ext uri="{FF2B5EF4-FFF2-40B4-BE49-F238E27FC236}">
                <a16:creationId xmlns:a16="http://schemas.microsoft.com/office/drawing/2014/main" id="{805C8E99-89F7-0C17-03F6-BD3E31D185CA}"/>
              </a:ext>
            </a:extLst>
          </p:cNvPr>
          <p:cNvSpPr>
            <a:spLocks noGrp="1"/>
          </p:cNvSpPr>
          <p:nvPr>
            <p:ph idx="1"/>
          </p:nvPr>
        </p:nvSpPr>
        <p:spPr>
          <a:xfrm>
            <a:off x="1289197" y="1988289"/>
            <a:ext cx="9601200" cy="3581400"/>
          </a:xfrm>
        </p:spPr>
        <p:txBody>
          <a:bodyPr/>
          <a:lstStyle/>
          <a:p>
            <a:r>
              <a:rPr lang="en-CA" dirty="0"/>
              <a:t>Grid-based world representation</a:t>
            </a:r>
          </a:p>
          <a:p>
            <a:r>
              <a:rPr lang="en-CA" dirty="0"/>
              <a:t>ECS-driven game objects</a:t>
            </a:r>
          </a:p>
          <a:p>
            <a:r>
              <a:rPr lang="en-CA" dirty="0"/>
              <a:t>Deterministic turn execution</a:t>
            </a:r>
          </a:p>
          <a:p>
            <a:r>
              <a:rPr lang="en-CA" dirty="0"/>
              <a:t>Data-driven level design (JSON)</a:t>
            </a:r>
          </a:p>
          <a:p>
            <a:r>
              <a:rPr lang="en-CA" dirty="0"/>
              <a:t>Replay-based debugging</a:t>
            </a:r>
            <a:endParaRPr lang="en-US" dirty="0"/>
          </a:p>
          <a:p>
            <a:endParaRPr lang="en-US" dirty="0"/>
          </a:p>
          <a:p>
            <a:pPr marL="0" indent="0">
              <a:buNone/>
            </a:pPr>
            <a:endParaRPr lang="en-CA" dirty="0"/>
          </a:p>
        </p:txBody>
      </p:sp>
      <p:sp>
        <p:nvSpPr>
          <p:cNvPr id="4" name="Rounded Rectangle 3">
            <a:extLst>
              <a:ext uri="{FF2B5EF4-FFF2-40B4-BE49-F238E27FC236}">
                <a16:creationId xmlns:a16="http://schemas.microsoft.com/office/drawing/2014/main" id="{295D569D-6A5D-ABBF-CBC5-A09435758AE5}"/>
              </a:ext>
            </a:extLst>
          </p:cNvPr>
          <p:cNvSpPr/>
          <p:nvPr/>
        </p:nvSpPr>
        <p:spPr>
          <a:xfrm>
            <a:off x="1998921" y="4686301"/>
            <a:ext cx="861237" cy="7363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Grid</a:t>
            </a:r>
          </a:p>
        </p:txBody>
      </p:sp>
      <p:sp>
        <p:nvSpPr>
          <p:cNvPr id="5" name="Rounded Rectangle 4">
            <a:extLst>
              <a:ext uri="{FF2B5EF4-FFF2-40B4-BE49-F238E27FC236}">
                <a16:creationId xmlns:a16="http://schemas.microsoft.com/office/drawing/2014/main" id="{C2CA0E37-C048-8928-A3B7-D928461610B7}"/>
              </a:ext>
            </a:extLst>
          </p:cNvPr>
          <p:cNvSpPr/>
          <p:nvPr/>
        </p:nvSpPr>
        <p:spPr>
          <a:xfrm>
            <a:off x="3299637" y="4686301"/>
            <a:ext cx="1197935" cy="7363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ECS</a:t>
            </a:r>
          </a:p>
        </p:txBody>
      </p:sp>
      <p:sp>
        <p:nvSpPr>
          <p:cNvPr id="6" name="Rounded Rectangle 5">
            <a:extLst>
              <a:ext uri="{FF2B5EF4-FFF2-40B4-BE49-F238E27FC236}">
                <a16:creationId xmlns:a16="http://schemas.microsoft.com/office/drawing/2014/main" id="{B5B80CD2-5D56-CE79-E175-41018AC74506}"/>
              </a:ext>
            </a:extLst>
          </p:cNvPr>
          <p:cNvSpPr/>
          <p:nvPr/>
        </p:nvSpPr>
        <p:spPr>
          <a:xfrm>
            <a:off x="4891863" y="4690288"/>
            <a:ext cx="1065913" cy="7363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Turn Pipeline </a:t>
            </a:r>
            <a:endParaRPr lang="en-US" dirty="0"/>
          </a:p>
        </p:txBody>
      </p:sp>
      <p:sp>
        <p:nvSpPr>
          <p:cNvPr id="7" name="Rounded Rectangle 6">
            <a:extLst>
              <a:ext uri="{FF2B5EF4-FFF2-40B4-BE49-F238E27FC236}">
                <a16:creationId xmlns:a16="http://schemas.microsoft.com/office/drawing/2014/main" id="{91D7E6D9-976F-DC51-02B8-E182EDA58A12}"/>
              </a:ext>
            </a:extLst>
          </p:cNvPr>
          <p:cNvSpPr/>
          <p:nvPr/>
        </p:nvSpPr>
        <p:spPr>
          <a:xfrm>
            <a:off x="6286943" y="4686301"/>
            <a:ext cx="1407487" cy="7363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Renderer</a:t>
            </a:r>
            <a:endParaRPr lang="en-US" dirty="0"/>
          </a:p>
        </p:txBody>
      </p:sp>
      <p:cxnSp>
        <p:nvCxnSpPr>
          <p:cNvPr id="10" name="Straight Arrow Connector 9">
            <a:extLst>
              <a:ext uri="{FF2B5EF4-FFF2-40B4-BE49-F238E27FC236}">
                <a16:creationId xmlns:a16="http://schemas.microsoft.com/office/drawing/2014/main" id="{61F38642-24F6-3BC8-5337-6D415B491F6D}"/>
              </a:ext>
            </a:extLst>
          </p:cNvPr>
          <p:cNvCxnSpPr>
            <a:endCxn id="5" idx="1"/>
          </p:cNvCxnSpPr>
          <p:nvPr/>
        </p:nvCxnSpPr>
        <p:spPr>
          <a:xfrm>
            <a:off x="2905346" y="5054453"/>
            <a:ext cx="3942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8B053DD-50BD-27F3-79BA-78E77E0D7CFF}"/>
              </a:ext>
            </a:extLst>
          </p:cNvPr>
          <p:cNvCxnSpPr>
            <a:stCxn id="5" idx="3"/>
            <a:endCxn id="6" idx="1"/>
          </p:cNvCxnSpPr>
          <p:nvPr/>
        </p:nvCxnSpPr>
        <p:spPr>
          <a:xfrm>
            <a:off x="4497572" y="5054453"/>
            <a:ext cx="394291" cy="39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281B1AE-09AC-3480-2D0F-2B15B657BD93}"/>
              </a:ext>
            </a:extLst>
          </p:cNvPr>
          <p:cNvCxnSpPr/>
          <p:nvPr/>
        </p:nvCxnSpPr>
        <p:spPr>
          <a:xfrm>
            <a:off x="5892652" y="5050466"/>
            <a:ext cx="394291" cy="39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939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22660-D0B6-DA86-7997-3660D800F845}"/>
              </a:ext>
            </a:extLst>
          </p:cNvPr>
          <p:cNvSpPr>
            <a:spLocks noGrp="1"/>
          </p:cNvSpPr>
          <p:nvPr>
            <p:ph type="title"/>
          </p:nvPr>
        </p:nvSpPr>
        <p:spPr/>
        <p:txBody>
          <a:bodyPr/>
          <a:lstStyle/>
          <a:p>
            <a:r>
              <a:rPr lang="en-CA" dirty="0"/>
              <a:t>Grid System &amp; Level Loading</a:t>
            </a:r>
            <a:endParaRPr lang="en-US" dirty="0"/>
          </a:p>
        </p:txBody>
      </p:sp>
      <p:sp>
        <p:nvSpPr>
          <p:cNvPr id="3" name="Content Placeholder 2">
            <a:extLst>
              <a:ext uri="{FF2B5EF4-FFF2-40B4-BE49-F238E27FC236}">
                <a16:creationId xmlns:a16="http://schemas.microsoft.com/office/drawing/2014/main" id="{55E262AC-874A-469B-7031-D272611A4515}"/>
              </a:ext>
            </a:extLst>
          </p:cNvPr>
          <p:cNvSpPr>
            <a:spLocks noGrp="1"/>
          </p:cNvSpPr>
          <p:nvPr>
            <p:ph idx="1"/>
          </p:nvPr>
        </p:nvSpPr>
        <p:spPr>
          <a:xfrm>
            <a:off x="1371600" y="1828801"/>
            <a:ext cx="4724400" cy="4559473"/>
          </a:xfrm>
        </p:spPr>
        <p:txBody>
          <a:bodyPr/>
          <a:lstStyle/>
          <a:p>
            <a:r>
              <a:rPr lang="en-CA" dirty="0"/>
              <a:t>Grid abstraction maps logical coordinates to screen space</a:t>
            </a:r>
          </a:p>
          <a:p>
            <a:r>
              <a:rPr lang="en-CA" dirty="0"/>
              <a:t>Occupancy tracking enables collision and rule checks</a:t>
            </a:r>
          </a:p>
          <a:p>
            <a:r>
              <a:rPr lang="en-CA" dirty="0"/>
              <a:t>Levels defined in </a:t>
            </a:r>
            <a:r>
              <a:rPr lang="en-CA" b="1" dirty="0"/>
              <a:t>JSON files</a:t>
            </a:r>
            <a:endParaRPr lang="en-CA" dirty="0"/>
          </a:p>
          <a:p>
            <a:r>
              <a:rPr lang="en-CA" dirty="0"/>
              <a:t>Automatic validation and entity spawning</a:t>
            </a:r>
          </a:p>
          <a:p>
            <a:r>
              <a:rPr lang="en-CA" dirty="0"/>
              <a:t>Designers can add levels without touching Rust code</a:t>
            </a:r>
          </a:p>
          <a:p>
            <a:endParaRPr lang="en-US" dirty="0"/>
          </a:p>
        </p:txBody>
      </p:sp>
      <p:pic>
        <p:nvPicPr>
          <p:cNvPr id="4" name="Picture 3">
            <a:extLst>
              <a:ext uri="{FF2B5EF4-FFF2-40B4-BE49-F238E27FC236}">
                <a16:creationId xmlns:a16="http://schemas.microsoft.com/office/drawing/2014/main" id="{82E943A5-AFD2-B77D-ED39-ED7DE470919D}"/>
              </a:ext>
            </a:extLst>
          </p:cNvPr>
          <p:cNvPicPr>
            <a:picLocks noChangeAspect="1"/>
          </p:cNvPicPr>
          <p:nvPr/>
        </p:nvPicPr>
        <p:blipFill>
          <a:blip r:embed="rId3"/>
          <a:stretch>
            <a:fillRect/>
          </a:stretch>
        </p:blipFill>
        <p:spPr>
          <a:xfrm>
            <a:off x="6299750" y="1913388"/>
            <a:ext cx="5462794" cy="3488424"/>
          </a:xfrm>
          <a:prstGeom prst="rect">
            <a:avLst/>
          </a:prstGeom>
        </p:spPr>
      </p:pic>
    </p:spTree>
    <p:extLst>
      <p:ext uri="{BB962C8B-B14F-4D97-AF65-F5344CB8AC3E}">
        <p14:creationId xmlns:p14="http://schemas.microsoft.com/office/powerpoint/2010/main" val="18100541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94A1C-63F6-45EB-F6BE-EBD89B9FEBF7}"/>
              </a:ext>
            </a:extLst>
          </p:cNvPr>
          <p:cNvSpPr>
            <a:spLocks noGrp="1"/>
          </p:cNvSpPr>
          <p:nvPr>
            <p:ph type="title"/>
          </p:nvPr>
        </p:nvSpPr>
        <p:spPr/>
        <p:txBody>
          <a:bodyPr/>
          <a:lstStyle/>
          <a:p>
            <a:r>
              <a:rPr lang="en-CA" dirty="0"/>
              <a:t>Deterministic Turn Scheduler</a:t>
            </a:r>
            <a:endParaRPr lang="en-US" dirty="0"/>
          </a:p>
        </p:txBody>
      </p:sp>
      <p:sp>
        <p:nvSpPr>
          <p:cNvPr id="3" name="Content Placeholder 2">
            <a:extLst>
              <a:ext uri="{FF2B5EF4-FFF2-40B4-BE49-F238E27FC236}">
                <a16:creationId xmlns:a16="http://schemas.microsoft.com/office/drawing/2014/main" id="{78CBA0C8-234D-5AF2-BD5E-00B8A1BF9C7B}"/>
              </a:ext>
            </a:extLst>
          </p:cNvPr>
          <p:cNvSpPr>
            <a:spLocks noGrp="1"/>
          </p:cNvSpPr>
          <p:nvPr>
            <p:ph idx="1"/>
          </p:nvPr>
        </p:nvSpPr>
        <p:spPr/>
        <p:txBody>
          <a:bodyPr/>
          <a:lstStyle/>
          <a:p>
            <a:r>
              <a:rPr lang="en-CA" dirty="0"/>
              <a:t>Fixed turn pipeline:</a:t>
            </a:r>
            <a:br>
              <a:rPr lang="en-CA" dirty="0"/>
            </a:br>
            <a:endParaRPr lang="en-CA" dirty="0"/>
          </a:p>
          <a:p>
            <a:endParaRPr lang="en-CA" dirty="0"/>
          </a:p>
          <a:p>
            <a:endParaRPr lang="en-CA" dirty="0"/>
          </a:p>
          <a:p>
            <a:r>
              <a:rPr lang="en-CA" dirty="0"/>
              <a:t>Explicit system ordering</a:t>
            </a:r>
          </a:p>
          <a:p>
            <a:r>
              <a:rPr lang="en-CA" dirty="0"/>
              <a:t>Single-threaded commit phase</a:t>
            </a:r>
          </a:p>
          <a:p>
            <a:r>
              <a:rPr lang="en-CA" dirty="0"/>
              <a:t>Seeded RNG for tie-breaking</a:t>
            </a:r>
          </a:p>
          <a:p>
            <a:r>
              <a:rPr lang="en-CA" dirty="0"/>
              <a:t>Same inputs + same seed ⇒ same outcome</a:t>
            </a:r>
          </a:p>
          <a:p>
            <a:endParaRPr lang="en-US" dirty="0"/>
          </a:p>
        </p:txBody>
      </p:sp>
      <p:sp>
        <p:nvSpPr>
          <p:cNvPr id="4" name="Rounded Rectangle 3">
            <a:extLst>
              <a:ext uri="{FF2B5EF4-FFF2-40B4-BE49-F238E27FC236}">
                <a16:creationId xmlns:a16="http://schemas.microsoft.com/office/drawing/2014/main" id="{21194467-F5B7-8B78-FB00-DAF8102DE8DC}"/>
              </a:ext>
            </a:extLst>
          </p:cNvPr>
          <p:cNvSpPr/>
          <p:nvPr/>
        </p:nvSpPr>
        <p:spPr>
          <a:xfrm>
            <a:off x="1828800" y="2869463"/>
            <a:ext cx="861237" cy="7363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Input</a:t>
            </a:r>
          </a:p>
        </p:txBody>
      </p:sp>
      <p:sp>
        <p:nvSpPr>
          <p:cNvPr id="5" name="Rounded Rectangle 4">
            <a:extLst>
              <a:ext uri="{FF2B5EF4-FFF2-40B4-BE49-F238E27FC236}">
                <a16:creationId xmlns:a16="http://schemas.microsoft.com/office/drawing/2014/main" id="{F437B297-A4D5-A5E4-3E13-27458C214DCD}"/>
              </a:ext>
            </a:extLst>
          </p:cNvPr>
          <p:cNvSpPr/>
          <p:nvPr/>
        </p:nvSpPr>
        <p:spPr>
          <a:xfrm>
            <a:off x="3129516" y="2869463"/>
            <a:ext cx="1197935" cy="7363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AI Planning</a:t>
            </a:r>
          </a:p>
        </p:txBody>
      </p:sp>
      <p:sp>
        <p:nvSpPr>
          <p:cNvPr id="6" name="Rounded Rectangle 5">
            <a:extLst>
              <a:ext uri="{FF2B5EF4-FFF2-40B4-BE49-F238E27FC236}">
                <a16:creationId xmlns:a16="http://schemas.microsoft.com/office/drawing/2014/main" id="{C8535909-CA6A-656D-0284-19C7392B8832}"/>
              </a:ext>
            </a:extLst>
          </p:cNvPr>
          <p:cNvSpPr/>
          <p:nvPr/>
        </p:nvSpPr>
        <p:spPr>
          <a:xfrm>
            <a:off x="4721742" y="2873450"/>
            <a:ext cx="1065913" cy="7363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Resolve</a:t>
            </a:r>
          </a:p>
        </p:txBody>
      </p:sp>
      <p:sp>
        <p:nvSpPr>
          <p:cNvPr id="7" name="Rounded Rectangle 6">
            <a:extLst>
              <a:ext uri="{FF2B5EF4-FFF2-40B4-BE49-F238E27FC236}">
                <a16:creationId xmlns:a16="http://schemas.microsoft.com/office/drawing/2014/main" id="{0EA33652-18EF-5ADC-D3BE-FE774842677E}"/>
              </a:ext>
            </a:extLst>
          </p:cNvPr>
          <p:cNvSpPr/>
          <p:nvPr/>
        </p:nvSpPr>
        <p:spPr>
          <a:xfrm>
            <a:off x="6116822" y="2869463"/>
            <a:ext cx="1065913" cy="7363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a:t>
            </a:r>
          </a:p>
        </p:txBody>
      </p:sp>
      <p:sp>
        <p:nvSpPr>
          <p:cNvPr id="8" name="Rounded Rectangle 7">
            <a:extLst>
              <a:ext uri="{FF2B5EF4-FFF2-40B4-BE49-F238E27FC236}">
                <a16:creationId xmlns:a16="http://schemas.microsoft.com/office/drawing/2014/main" id="{D85C01A4-E51D-D23A-4C36-5AD72D922ECC}"/>
              </a:ext>
            </a:extLst>
          </p:cNvPr>
          <p:cNvSpPr/>
          <p:nvPr/>
        </p:nvSpPr>
        <p:spPr>
          <a:xfrm>
            <a:off x="7618226" y="2873450"/>
            <a:ext cx="1065913" cy="7363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Clean Up</a:t>
            </a:r>
          </a:p>
        </p:txBody>
      </p:sp>
      <p:cxnSp>
        <p:nvCxnSpPr>
          <p:cNvPr id="9" name="Straight Arrow Connector 8">
            <a:extLst>
              <a:ext uri="{FF2B5EF4-FFF2-40B4-BE49-F238E27FC236}">
                <a16:creationId xmlns:a16="http://schemas.microsoft.com/office/drawing/2014/main" id="{D3206D3F-EEB0-CEBA-CFF4-4551C3F7BE49}"/>
              </a:ext>
            </a:extLst>
          </p:cNvPr>
          <p:cNvCxnSpPr>
            <a:endCxn id="5" idx="1"/>
          </p:cNvCxnSpPr>
          <p:nvPr/>
        </p:nvCxnSpPr>
        <p:spPr>
          <a:xfrm>
            <a:off x="2735225" y="3237615"/>
            <a:ext cx="3942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B486BA9C-3896-6493-86A9-BD255AA97812}"/>
              </a:ext>
            </a:extLst>
          </p:cNvPr>
          <p:cNvCxnSpPr>
            <a:stCxn id="5" idx="3"/>
            <a:endCxn id="6" idx="1"/>
          </p:cNvCxnSpPr>
          <p:nvPr/>
        </p:nvCxnSpPr>
        <p:spPr>
          <a:xfrm>
            <a:off x="4327451" y="3237615"/>
            <a:ext cx="394291" cy="39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2121E4AB-52A9-9BA1-A3C2-0D27A2843F1D}"/>
              </a:ext>
            </a:extLst>
          </p:cNvPr>
          <p:cNvCxnSpPr/>
          <p:nvPr/>
        </p:nvCxnSpPr>
        <p:spPr>
          <a:xfrm>
            <a:off x="5722531" y="3233628"/>
            <a:ext cx="394291" cy="39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598A7BE3-E28E-5CA1-369B-4DF75A6AD4C4}"/>
              </a:ext>
            </a:extLst>
          </p:cNvPr>
          <p:cNvCxnSpPr/>
          <p:nvPr/>
        </p:nvCxnSpPr>
        <p:spPr>
          <a:xfrm>
            <a:off x="7203335" y="3237615"/>
            <a:ext cx="394291" cy="39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16492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F115D-8515-55BC-39A5-3EF36CA16574}"/>
              </a:ext>
            </a:extLst>
          </p:cNvPr>
          <p:cNvSpPr>
            <a:spLocks noGrp="1"/>
          </p:cNvSpPr>
          <p:nvPr>
            <p:ph type="title"/>
          </p:nvPr>
        </p:nvSpPr>
        <p:spPr/>
        <p:txBody>
          <a:bodyPr/>
          <a:lstStyle/>
          <a:p>
            <a:r>
              <a:rPr lang="en-CA" dirty="0"/>
              <a:t>ECS for Game Objects</a:t>
            </a:r>
            <a:endParaRPr lang="en-US" dirty="0"/>
          </a:p>
        </p:txBody>
      </p:sp>
      <p:sp>
        <p:nvSpPr>
          <p:cNvPr id="3" name="Content Placeholder 2">
            <a:extLst>
              <a:ext uri="{FF2B5EF4-FFF2-40B4-BE49-F238E27FC236}">
                <a16:creationId xmlns:a16="http://schemas.microsoft.com/office/drawing/2014/main" id="{E2C16E88-968C-7753-B3F3-5E48A8671B21}"/>
              </a:ext>
            </a:extLst>
          </p:cNvPr>
          <p:cNvSpPr>
            <a:spLocks noGrp="1"/>
          </p:cNvSpPr>
          <p:nvPr>
            <p:ph idx="1"/>
          </p:nvPr>
        </p:nvSpPr>
        <p:spPr/>
        <p:txBody>
          <a:bodyPr>
            <a:normAutofit fontScale="92500" lnSpcReduction="10000"/>
          </a:bodyPr>
          <a:lstStyle/>
          <a:p>
            <a:r>
              <a:rPr lang="en-CA" dirty="0"/>
              <a:t>Objects composed from small components</a:t>
            </a:r>
          </a:p>
          <a:p>
            <a:pPr>
              <a:buFont typeface="Arial" panose="020B0604020202020204" pitchFamily="34" charset="0"/>
              <a:buChar char="•"/>
            </a:pPr>
            <a:r>
              <a:rPr lang="en-CA" dirty="0"/>
              <a:t>Position, Actor, Blocking, Goal, AI</a:t>
            </a:r>
          </a:p>
          <a:p>
            <a:r>
              <a:rPr lang="en-CA" dirty="0"/>
              <a:t>No rigid class hierarchies</a:t>
            </a:r>
          </a:p>
          <a:p>
            <a:r>
              <a:rPr lang="en-CA" dirty="0"/>
              <a:t>Systems operate per turn stage</a:t>
            </a:r>
          </a:p>
          <a:p>
            <a:r>
              <a:rPr lang="en-CA" dirty="0"/>
              <a:t>State mutations restricted to commit phase</a:t>
            </a:r>
          </a:p>
          <a:p>
            <a:endParaRPr lang="en-US" dirty="0"/>
          </a:p>
          <a:p>
            <a:r>
              <a:rPr lang="en-CA" b="1" dirty="0"/>
              <a:t>Example:</a:t>
            </a:r>
            <a:endParaRPr lang="en-CA" dirty="0"/>
          </a:p>
          <a:p>
            <a:pPr>
              <a:buFont typeface="Arial" panose="020B0604020202020204" pitchFamily="34" charset="0"/>
              <a:buChar char="•"/>
            </a:pPr>
            <a:r>
              <a:rPr lang="en-CA" dirty="0"/>
              <a:t>Enemy = Position + Actor + AI + Blocking</a:t>
            </a:r>
          </a:p>
          <a:p>
            <a:pPr>
              <a:buFont typeface="Arial" panose="020B0604020202020204" pitchFamily="34" charset="0"/>
              <a:buChar char="•"/>
            </a:pPr>
            <a:r>
              <a:rPr lang="en-CA" dirty="0"/>
              <a:t>Exit = Position + Goal</a:t>
            </a:r>
          </a:p>
          <a:p>
            <a:endParaRPr lang="en-US" dirty="0"/>
          </a:p>
        </p:txBody>
      </p:sp>
    </p:spTree>
    <p:extLst>
      <p:ext uri="{BB962C8B-B14F-4D97-AF65-F5344CB8AC3E}">
        <p14:creationId xmlns:p14="http://schemas.microsoft.com/office/powerpoint/2010/main" val="2258494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72583-DAE9-C258-1925-516E4402FD5F}"/>
              </a:ext>
            </a:extLst>
          </p:cNvPr>
          <p:cNvSpPr>
            <a:spLocks noGrp="1"/>
          </p:cNvSpPr>
          <p:nvPr>
            <p:ph type="title"/>
          </p:nvPr>
        </p:nvSpPr>
        <p:spPr/>
        <p:txBody>
          <a:bodyPr/>
          <a:lstStyle/>
          <a:p>
            <a:r>
              <a:rPr lang="en-CA" dirty="0"/>
              <a:t>Pathfinding &amp; AI</a:t>
            </a:r>
            <a:endParaRPr lang="en-US" dirty="0"/>
          </a:p>
        </p:txBody>
      </p:sp>
      <p:sp>
        <p:nvSpPr>
          <p:cNvPr id="3" name="Content Placeholder 2">
            <a:extLst>
              <a:ext uri="{FF2B5EF4-FFF2-40B4-BE49-F238E27FC236}">
                <a16:creationId xmlns:a16="http://schemas.microsoft.com/office/drawing/2014/main" id="{84D659DD-7A55-B503-D383-30E90CC1EC7D}"/>
              </a:ext>
            </a:extLst>
          </p:cNvPr>
          <p:cNvSpPr>
            <a:spLocks noGrp="1"/>
          </p:cNvSpPr>
          <p:nvPr>
            <p:ph idx="1"/>
          </p:nvPr>
        </p:nvSpPr>
        <p:spPr/>
        <p:txBody>
          <a:bodyPr/>
          <a:lstStyle/>
          <a:p>
            <a:r>
              <a:rPr lang="en-CA" dirty="0"/>
              <a:t>Grid-based </a:t>
            </a:r>
            <a:r>
              <a:rPr lang="en-CA" b="1" dirty="0"/>
              <a:t>A*</a:t>
            </a:r>
            <a:r>
              <a:rPr lang="en-CA" dirty="0"/>
              <a:t> pathfinding</a:t>
            </a:r>
          </a:p>
          <a:p>
            <a:r>
              <a:rPr lang="en-CA" dirty="0"/>
              <a:t>Manhattan distance heuristic</a:t>
            </a:r>
          </a:p>
          <a:p>
            <a:r>
              <a:rPr lang="en-CA" dirty="0"/>
              <a:t>Deterministic neighbor ordering</a:t>
            </a:r>
          </a:p>
          <a:p>
            <a:r>
              <a:rPr lang="en-CA" dirty="0"/>
              <a:t>Pluggable </a:t>
            </a:r>
            <a:r>
              <a:rPr lang="en-CA" dirty="0" err="1"/>
              <a:t>passability</a:t>
            </a:r>
            <a:r>
              <a:rPr lang="en-CA" dirty="0"/>
              <a:t> policy</a:t>
            </a:r>
          </a:p>
          <a:p>
            <a:r>
              <a:rPr lang="en-CA" dirty="0"/>
              <a:t>Integrates cleanly into turn pipeline</a:t>
            </a:r>
          </a:p>
          <a:p>
            <a:endParaRPr lang="en-US" dirty="0"/>
          </a:p>
        </p:txBody>
      </p:sp>
      <p:pic>
        <p:nvPicPr>
          <p:cNvPr id="2050" name="Picture 2" descr="A* Search Algorithm - GeeksforGeeks">
            <a:extLst>
              <a:ext uri="{FF2B5EF4-FFF2-40B4-BE49-F238E27FC236}">
                <a16:creationId xmlns:a16="http://schemas.microsoft.com/office/drawing/2014/main" id="{F901710B-7650-1C4E-9B4E-0BD6AD40CF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7356" y="2058618"/>
            <a:ext cx="5178867" cy="27407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9053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DAA90-D1AC-8672-75FC-767ADB9B0538}"/>
              </a:ext>
            </a:extLst>
          </p:cNvPr>
          <p:cNvSpPr>
            <a:spLocks noGrp="1"/>
          </p:cNvSpPr>
          <p:nvPr>
            <p:ph type="title"/>
          </p:nvPr>
        </p:nvSpPr>
        <p:spPr/>
        <p:txBody>
          <a:bodyPr/>
          <a:lstStyle/>
          <a:p>
            <a:r>
              <a:rPr lang="en-CA" dirty="0"/>
              <a:t>Reproducibility &amp; Replay System</a:t>
            </a:r>
            <a:endParaRPr lang="en-US" dirty="0"/>
          </a:p>
        </p:txBody>
      </p:sp>
      <p:sp>
        <p:nvSpPr>
          <p:cNvPr id="3" name="Content Placeholder 2">
            <a:extLst>
              <a:ext uri="{FF2B5EF4-FFF2-40B4-BE49-F238E27FC236}">
                <a16:creationId xmlns:a16="http://schemas.microsoft.com/office/drawing/2014/main" id="{DEFEE856-97B7-189E-5B96-DF2D2BB96D93}"/>
              </a:ext>
            </a:extLst>
          </p:cNvPr>
          <p:cNvSpPr>
            <a:spLocks noGrp="1"/>
          </p:cNvSpPr>
          <p:nvPr>
            <p:ph idx="1"/>
          </p:nvPr>
        </p:nvSpPr>
        <p:spPr/>
        <p:txBody>
          <a:bodyPr/>
          <a:lstStyle/>
          <a:p>
            <a:r>
              <a:rPr lang="en-CA" dirty="0"/>
              <a:t>Inputs and RNG seed are logged</a:t>
            </a:r>
          </a:p>
          <a:p>
            <a:r>
              <a:rPr lang="en-CA" dirty="0"/>
              <a:t>Replays reproduce exact game states</a:t>
            </a:r>
          </a:p>
          <a:p>
            <a:r>
              <a:rPr lang="en-CA" dirty="0"/>
              <a:t>Supports “golden” tests</a:t>
            </a:r>
          </a:p>
          <a:p>
            <a:r>
              <a:rPr lang="en-CA" dirty="0"/>
              <a:t>Enables step-by-step debugging</a:t>
            </a:r>
          </a:p>
          <a:p>
            <a:r>
              <a:rPr lang="en-CA" dirty="0"/>
              <a:t>Verifies determinism end-to-end</a:t>
            </a:r>
          </a:p>
          <a:p>
            <a:endParaRPr lang="en-US" dirty="0"/>
          </a:p>
        </p:txBody>
      </p:sp>
      <p:pic>
        <p:nvPicPr>
          <p:cNvPr id="4" name="Picture 3">
            <a:extLst>
              <a:ext uri="{FF2B5EF4-FFF2-40B4-BE49-F238E27FC236}">
                <a16:creationId xmlns:a16="http://schemas.microsoft.com/office/drawing/2014/main" id="{B56A2EBA-9A58-FCEF-6F5A-AB1B7A1B380C}"/>
              </a:ext>
            </a:extLst>
          </p:cNvPr>
          <p:cNvPicPr>
            <a:picLocks noChangeAspect="1"/>
          </p:cNvPicPr>
          <p:nvPr/>
        </p:nvPicPr>
        <p:blipFill>
          <a:blip r:embed="rId3"/>
          <a:stretch>
            <a:fillRect/>
          </a:stretch>
        </p:blipFill>
        <p:spPr>
          <a:xfrm>
            <a:off x="1467633" y="4861410"/>
            <a:ext cx="7772400" cy="1719706"/>
          </a:xfrm>
          <a:prstGeom prst="rect">
            <a:avLst/>
          </a:prstGeom>
        </p:spPr>
      </p:pic>
      <p:pic>
        <p:nvPicPr>
          <p:cNvPr id="5" name="Picture 4">
            <a:extLst>
              <a:ext uri="{FF2B5EF4-FFF2-40B4-BE49-F238E27FC236}">
                <a16:creationId xmlns:a16="http://schemas.microsoft.com/office/drawing/2014/main" id="{CAC6188B-E439-ECC6-8C7B-FFB34D01325C}"/>
              </a:ext>
            </a:extLst>
          </p:cNvPr>
          <p:cNvPicPr>
            <a:picLocks noChangeAspect="1"/>
          </p:cNvPicPr>
          <p:nvPr/>
        </p:nvPicPr>
        <p:blipFill>
          <a:blip r:embed="rId4"/>
          <a:stretch>
            <a:fillRect/>
          </a:stretch>
        </p:blipFill>
        <p:spPr>
          <a:xfrm>
            <a:off x="6283021" y="1856876"/>
            <a:ext cx="2957012" cy="2829425"/>
          </a:xfrm>
          <a:prstGeom prst="rect">
            <a:avLst/>
          </a:prstGeom>
        </p:spPr>
      </p:pic>
      <p:sp>
        <p:nvSpPr>
          <p:cNvPr id="6" name="TextBox 5">
            <a:extLst>
              <a:ext uri="{FF2B5EF4-FFF2-40B4-BE49-F238E27FC236}">
                <a16:creationId xmlns:a16="http://schemas.microsoft.com/office/drawing/2014/main" id="{DF48075C-9136-7778-19D3-2CD126849B06}"/>
              </a:ext>
            </a:extLst>
          </p:cNvPr>
          <p:cNvSpPr txBox="1"/>
          <p:nvPr/>
        </p:nvSpPr>
        <p:spPr>
          <a:xfrm>
            <a:off x="9331891" y="2286000"/>
            <a:ext cx="2379946" cy="1477328"/>
          </a:xfrm>
          <a:prstGeom prst="rect">
            <a:avLst/>
          </a:prstGeom>
          <a:noFill/>
        </p:spPr>
        <p:txBody>
          <a:bodyPr wrap="square" rtlCol="0">
            <a:spAutoFit/>
          </a:bodyPr>
          <a:lstStyle/>
          <a:p>
            <a:r>
              <a:rPr lang="en-US" dirty="0"/>
              <a:t>note: An example of the golden snapshot which we used to test against the deterministic runs</a:t>
            </a:r>
          </a:p>
        </p:txBody>
      </p:sp>
    </p:spTree>
    <p:extLst>
      <p:ext uri="{BB962C8B-B14F-4D97-AF65-F5344CB8AC3E}">
        <p14:creationId xmlns:p14="http://schemas.microsoft.com/office/powerpoint/2010/main" val="18373534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0FF5D-9074-CE5F-75E8-95ED90F80E76}"/>
              </a:ext>
            </a:extLst>
          </p:cNvPr>
          <p:cNvSpPr>
            <a:spLocks noGrp="1"/>
          </p:cNvSpPr>
          <p:nvPr>
            <p:ph type="title"/>
          </p:nvPr>
        </p:nvSpPr>
        <p:spPr/>
        <p:txBody>
          <a:bodyPr/>
          <a:lstStyle/>
          <a:p>
            <a:r>
              <a:rPr lang="en-CA" dirty="0"/>
              <a:t>Lessons Learned</a:t>
            </a:r>
            <a:endParaRPr lang="en-US" dirty="0"/>
          </a:p>
        </p:txBody>
      </p:sp>
      <p:sp>
        <p:nvSpPr>
          <p:cNvPr id="3" name="Content Placeholder 2">
            <a:extLst>
              <a:ext uri="{FF2B5EF4-FFF2-40B4-BE49-F238E27FC236}">
                <a16:creationId xmlns:a16="http://schemas.microsoft.com/office/drawing/2014/main" id="{1A210D6D-660B-07D2-FDA9-68A7CAA7F356}"/>
              </a:ext>
            </a:extLst>
          </p:cNvPr>
          <p:cNvSpPr>
            <a:spLocks noGrp="1"/>
          </p:cNvSpPr>
          <p:nvPr>
            <p:ph idx="1"/>
          </p:nvPr>
        </p:nvSpPr>
        <p:spPr/>
        <p:txBody>
          <a:bodyPr/>
          <a:lstStyle/>
          <a:p>
            <a:r>
              <a:rPr lang="en-CA" dirty="0"/>
              <a:t>Deterministic scheduling simplifies debugging</a:t>
            </a:r>
          </a:p>
          <a:p>
            <a:r>
              <a:rPr lang="en-CA" dirty="0"/>
              <a:t>Clear phase separation prevents hidden bugs</a:t>
            </a:r>
          </a:p>
          <a:p>
            <a:r>
              <a:rPr lang="en-CA" dirty="0"/>
              <a:t>Rust’s ownership model catches errors at compile time</a:t>
            </a:r>
          </a:p>
          <a:p>
            <a:r>
              <a:rPr lang="en-CA" dirty="0"/>
              <a:t>Fewer runtime crashes and undefined states</a:t>
            </a:r>
          </a:p>
          <a:p>
            <a:r>
              <a:rPr lang="en-CA" dirty="0"/>
              <a:t>ECS + Rust encourages clean system design</a:t>
            </a:r>
          </a:p>
          <a:p>
            <a:endParaRPr lang="en-US" dirty="0"/>
          </a:p>
        </p:txBody>
      </p:sp>
    </p:spTree>
    <p:extLst>
      <p:ext uri="{BB962C8B-B14F-4D97-AF65-F5344CB8AC3E}">
        <p14:creationId xmlns:p14="http://schemas.microsoft.com/office/powerpoint/2010/main" val="29785556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AF6D6-041F-304A-3B3D-B78FE807585A}"/>
              </a:ext>
            </a:extLst>
          </p:cNvPr>
          <p:cNvSpPr>
            <a:spLocks noGrp="1"/>
          </p:cNvSpPr>
          <p:nvPr>
            <p:ph type="title"/>
          </p:nvPr>
        </p:nvSpPr>
        <p:spPr/>
        <p:txBody>
          <a:bodyPr/>
          <a:lstStyle/>
          <a:p>
            <a:r>
              <a:rPr lang="en-CA" dirty="0"/>
              <a:t>Future Work</a:t>
            </a:r>
            <a:endParaRPr lang="en-US" dirty="0"/>
          </a:p>
        </p:txBody>
      </p:sp>
      <p:sp>
        <p:nvSpPr>
          <p:cNvPr id="3" name="Content Placeholder 2">
            <a:extLst>
              <a:ext uri="{FF2B5EF4-FFF2-40B4-BE49-F238E27FC236}">
                <a16:creationId xmlns:a16="http://schemas.microsoft.com/office/drawing/2014/main" id="{FFC0EB13-38B1-2AA5-4BF0-F15D2127C69A}"/>
              </a:ext>
            </a:extLst>
          </p:cNvPr>
          <p:cNvSpPr>
            <a:spLocks noGrp="1"/>
          </p:cNvSpPr>
          <p:nvPr>
            <p:ph idx="1"/>
          </p:nvPr>
        </p:nvSpPr>
        <p:spPr/>
        <p:txBody>
          <a:bodyPr/>
          <a:lstStyle/>
          <a:p>
            <a:r>
              <a:rPr lang="en-CA" dirty="0"/>
              <a:t>Implement additional game mechanics:</a:t>
            </a:r>
          </a:p>
          <a:p>
            <a:pPr>
              <a:buFont typeface="Arial" panose="020B0604020202020204" pitchFamily="34" charset="0"/>
              <a:buChar char="•"/>
            </a:pPr>
            <a:r>
              <a:rPr lang="en-CA" dirty="0"/>
              <a:t>Traps (multi-turn stun)</a:t>
            </a:r>
          </a:p>
          <a:p>
            <a:pPr>
              <a:buFont typeface="Arial" panose="020B0604020202020204" pitchFamily="34" charset="0"/>
              <a:buChar char="•"/>
            </a:pPr>
            <a:r>
              <a:rPr lang="en-CA" dirty="0"/>
              <a:t>Doors &amp; keys</a:t>
            </a:r>
          </a:p>
          <a:p>
            <a:pPr>
              <a:buFont typeface="Arial" panose="020B0604020202020204" pitchFamily="34" charset="0"/>
              <a:buChar char="•"/>
            </a:pPr>
            <a:r>
              <a:rPr lang="en-CA" dirty="0"/>
              <a:t>More interactive items</a:t>
            </a:r>
          </a:p>
          <a:p>
            <a:r>
              <a:rPr lang="en-CA" dirty="0"/>
              <a:t>Expand save system</a:t>
            </a:r>
          </a:p>
          <a:p>
            <a:r>
              <a:rPr lang="en-CA" dirty="0"/>
              <a:t>More complex AI behaviors</a:t>
            </a:r>
          </a:p>
          <a:p>
            <a:r>
              <a:rPr lang="en-CA" dirty="0"/>
              <a:t>Additional automated replay tests</a:t>
            </a:r>
          </a:p>
          <a:p>
            <a:endParaRPr lang="en-US" dirty="0"/>
          </a:p>
        </p:txBody>
      </p:sp>
    </p:spTree>
    <p:extLst>
      <p:ext uri="{BB962C8B-B14F-4D97-AF65-F5344CB8AC3E}">
        <p14:creationId xmlns:p14="http://schemas.microsoft.com/office/powerpoint/2010/main" val="1444239991"/>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Crop</Template>
  <TotalTime>68</TotalTime>
  <Words>983</Words>
  <Application>Microsoft Macintosh PowerPoint</Application>
  <PresentationFormat>Widescreen</PresentationFormat>
  <Paragraphs>92</Paragraphs>
  <Slides>10</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Arial</vt:lpstr>
      <vt:lpstr>Franklin Gothic Book</vt:lpstr>
      <vt:lpstr>Crop</vt:lpstr>
      <vt:lpstr>A Deterministic Grid-Based Game Engine in Rust</vt:lpstr>
      <vt:lpstr>Motivation</vt:lpstr>
      <vt:lpstr>System Overview</vt:lpstr>
      <vt:lpstr>Grid System &amp; Level Loading</vt:lpstr>
      <vt:lpstr>Deterministic Turn Scheduler</vt:lpstr>
      <vt:lpstr>ECS for Game Objects</vt:lpstr>
      <vt:lpstr>Pathfinding &amp; AI</vt:lpstr>
      <vt:lpstr>Reproducibility &amp; Replay System</vt:lpstr>
      <vt:lpstr>Lessons Learned</vt:lpstr>
      <vt:lpstr>Future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Yijun Chen</dc:creator>
  <cp:lastModifiedBy>Yijun Chen</cp:lastModifiedBy>
  <cp:revision>1</cp:revision>
  <dcterms:created xsi:type="dcterms:W3CDTF">2025-12-15T16:45:34Z</dcterms:created>
  <dcterms:modified xsi:type="dcterms:W3CDTF">2025-12-15T17:54:19Z</dcterms:modified>
</cp:coreProperties>
</file>